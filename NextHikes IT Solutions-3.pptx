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B4BA5-C23B-5454-5B3C-E0ADADEDF8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C776F59-55BC-A61A-1D47-146AD16B48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8B74CE3-B776-30CD-8E98-2B35C2CA891C}"/>
              </a:ext>
            </a:extLst>
          </p:cNvPr>
          <p:cNvSpPr>
            <a:spLocks noGrp="1"/>
          </p:cNvSpPr>
          <p:nvPr>
            <p:ph type="dt" sz="half" idx="10"/>
          </p:nvPr>
        </p:nvSpPr>
        <p:spPr/>
        <p:txBody>
          <a:bodyPr/>
          <a:lstStyle/>
          <a:p>
            <a:fld id="{DA881673-81C8-43D0-A713-4B585F265EC8}" type="datetimeFigureOut">
              <a:rPr lang="en-IN" smtClean="0"/>
              <a:t>31-01-2026</a:t>
            </a:fld>
            <a:endParaRPr lang="en-IN"/>
          </a:p>
        </p:txBody>
      </p:sp>
      <p:sp>
        <p:nvSpPr>
          <p:cNvPr id="5" name="Footer Placeholder 4">
            <a:extLst>
              <a:ext uri="{FF2B5EF4-FFF2-40B4-BE49-F238E27FC236}">
                <a16:creationId xmlns:a16="http://schemas.microsoft.com/office/drawing/2014/main" id="{194B54F9-C241-563F-A110-5B3ED630FE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069416A-54BF-D68C-52C2-75639DD5ECB6}"/>
              </a:ext>
            </a:extLst>
          </p:cNvPr>
          <p:cNvSpPr>
            <a:spLocks noGrp="1"/>
          </p:cNvSpPr>
          <p:nvPr>
            <p:ph type="sldNum" sz="quarter" idx="12"/>
          </p:nvPr>
        </p:nvSpPr>
        <p:spPr/>
        <p:txBody>
          <a:bodyPr/>
          <a:lstStyle/>
          <a:p>
            <a:fld id="{D1B3C46A-F046-4A96-AD59-0D5E70974421}" type="slidenum">
              <a:rPr lang="en-IN" smtClean="0"/>
              <a:t>‹#›</a:t>
            </a:fld>
            <a:endParaRPr lang="en-IN"/>
          </a:p>
        </p:txBody>
      </p:sp>
    </p:spTree>
    <p:extLst>
      <p:ext uri="{BB962C8B-B14F-4D97-AF65-F5344CB8AC3E}">
        <p14:creationId xmlns:p14="http://schemas.microsoft.com/office/powerpoint/2010/main" val="3459477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A4E0D-00F1-1BD6-2DE1-B6D40C3C81A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018F830-8833-5CEF-8DD7-363E170F407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F38E56A-A840-56D9-28C8-04B87ED76F21}"/>
              </a:ext>
            </a:extLst>
          </p:cNvPr>
          <p:cNvSpPr>
            <a:spLocks noGrp="1"/>
          </p:cNvSpPr>
          <p:nvPr>
            <p:ph type="dt" sz="half" idx="10"/>
          </p:nvPr>
        </p:nvSpPr>
        <p:spPr/>
        <p:txBody>
          <a:bodyPr/>
          <a:lstStyle/>
          <a:p>
            <a:fld id="{DA881673-81C8-43D0-A713-4B585F265EC8}" type="datetimeFigureOut">
              <a:rPr lang="en-IN" smtClean="0"/>
              <a:t>31-01-2026</a:t>
            </a:fld>
            <a:endParaRPr lang="en-IN"/>
          </a:p>
        </p:txBody>
      </p:sp>
      <p:sp>
        <p:nvSpPr>
          <p:cNvPr id="5" name="Footer Placeholder 4">
            <a:extLst>
              <a:ext uri="{FF2B5EF4-FFF2-40B4-BE49-F238E27FC236}">
                <a16:creationId xmlns:a16="http://schemas.microsoft.com/office/drawing/2014/main" id="{2091C548-96B6-E937-FA74-19D113C99C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54F228-3567-1E3A-49AD-E95EAAE65E49}"/>
              </a:ext>
            </a:extLst>
          </p:cNvPr>
          <p:cNvSpPr>
            <a:spLocks noGrp="1"/>
          </p:cNvSpPr>
          <p:nvPr>
            <p:ph type="sldNum" sz="quarter" idx="12"/>
          </p:nvPr>
        </p:nvSpPr>
        <p:spPr/>
        <p:txBody>
          <a:bodyPr/>
          <a:lstStyle/>
          <a:p>
            <a:fld id="{D1B3C46A-F046-4A96-AD59-0D5E70974421}" type="slidenum">
              <a:rPr lang="en-IN" smtClean="0"/>
              <a:t>‹#›</a:t>
            </a:fld>
            <a:endParaRPr lang="en-IN"/>
          </a:p>
        </p:txBody>
      </p:sp>
    </p:spTree>
    <p:extLst>
      <p:ext uri="{BB962C8B-B14F-4D97-AF65-F5344CB8AC3E}">
        <p14:creationId xmlns:p14="http://schemas.microsoft.com/office/powerpoint/2010/main" val="35054078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8BE6E-6CBB-F7BF-184E-77272D61790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A8975FD-6B7A-F7EA-BCB8-85E3DF5E545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A972A7-CF14-3284-7614-B161B6B777B5}"/>
              </a:ext>
            </a:extLst>
          </p:cNvPr>
          <p:cNvSpPr>
            <a:spLocks noGrp="1"/>
          </p:cNvSpPr>
          <p:nvPr>
            <p:ph type="dt" sz="half" idx="10"/>
          </p:nvPr>
        </p:nvSpPr>
        <p:spPr/>
        <p:txBody>
          <a:bodyPr/>
          <a:lstStyle/>
          <a:p>
            <a:fld id="{DA881673-81C8-43D0-A713-4B585F265EC8}" type="datetimeFigureOut">
              <a:rPr lang="en-IN" smtClean="0"/>
              <a:t>31-01-2026</a:t>
            </a:fld>
            <a:endParaRPr lang="en-IN"/>
          </a:p>
        </p:txBody>
      </p:sp>
      <p:sp>
        <p:nvSpPr>
          <p:cNvPr id="5" name="Footer Placeholder 4">
            <a:extLst>
              <a:ext uri="{FF2B5EF4-FFF2-40B4-BE49-F238E27FC236}">
                <a16:creationId xmlns:a16="http://schemas.microsoft.com/office/drawing/2014/main" id="{9AA284E5-C60A-B251-280E-61D529DA23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917EE5-7D5E-2242-7E50-EE651149048D}"/>
              </a:ext>
            </a:extLst>
          </p:cNvPr>
          <p:cNvSpPr>
            <a:spLocks noGrp="1"/>
          </p:cNvSpPr>
          <p:nvPr>
            <p:ph type="sldNum" sz="quarter" idx="12"/>
          </p:nvPr>
        </p:nvSpPr>
        <p:spPr/>
        <p:txBody>
          <a:bodyPr/>
          <a:lstStyle/>
          <a:p>
            <a:fld id="{D1B3C46A-F046-4A96-AD59-0D5E70974421}" type="slidenum">
              <a:rPr lang="en-IN" smtClean="0"/>
              <a:t>‹#›</a:t>
            </a:fld>
            <a:endParaRPr lang="en-IN"/>
          </a:p>
        </p:txBody>
      </p:sp>
    </p:spTree>
    <p:extLst>
      <p:ext uri="{BB962C8B-B14F-4D97-AF65-F5344CB8AC3E}">
        <p14:creationId xmlns:p14="http://schemas.microsoft.com/office/powerpoint/2010/main" val="17332664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E4A2B-9893-C9B8-C9E4-DDD4B242813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5B9064C-CFDC-58C8-01DA-0FB4BFEBB5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75600C5-3E79-0E77-9777-19B99B18739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27F9442-D453-C1B7-801A-D63E8D671218}"/>
              </a:ext>
            </a:extLst>
          </p:cNvPr>
          <p:cNvSpPr>
            <a:spLocks noGrp="1"/>
          </p:cNvSpPr>
          <p:nvPr>
            <p:ph type="dt" sz="half" idx="10"/>
          </p:nvPr>
        </p:nvSpPr>
        <p:spPr/>
        <p:txBody>
          <a:bodyPr/>
          <a:lstStyle/>
          <a:p>
            <a:fld id="{DA881673-81C8-43D0-A713-4B585F265EC8}" type="datetimeFigureOut">
              <a:rPr lang="en-IN" smtClean="0"/>
              <a:t>31-01-2026</a:t>
            </a:fld>
            <a:endParaRPr lang="en-IN"/>
          </a:p>
        </p:txBody>
      </p:sp>
      <p:sp>
        <p:nvSpPr>
          <p:cNvPr id="6" name="Footer Placeholder 5">
            <a:extLst>
              <a:ext uri="{FF2B5EF4-FFF2-40B4-BE49-F238E27FC236}">
                <a16:creationId xmlns:a16="http://schemas.microsoft.com/office/drawing/2014/main" id="{C5C61FA7-2BBA-3BAC-F9CC-A8930A2D68F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E612236-64CE-D94B-9D61-3A57B0043EF9}"/>
              </a:ext>
            </a:extLst>
          </p:cNvPr>
          <p:cNvSpPr>
            <a:spLocks noGrp="1"/>
          </p:cNvSpPr>
          <p:nvPr>
            <p:ph type="sldNum" sz="quarter" idx="12"/>
          </p:nvPr>
        </p:nvSpPr>
        <p:spPr/>
        <p:txBody>
          <a:bodyPr/>
          <a:lstStyle/>
          <a:p>
            <a:fld id="{D1B3C46A-F046-4A96-AD59-0D5E70974421}" type="slidenum">
              <a:rPr lang="en-IN" smtClean="0"/>
              <a:t>‹#›</a:t>
            </a:fld>
            <a:endParaRPr lang="en-IN"/>
          </a:p>
        </p:txBody>
      </p:sp>
    </p:spTree>
    <p:extLst>
      <p:ext uri="{BB962C8B-B14F-4D97-AF65-F5344CB8AC3E}">
        <p14:creationId xmlns:p14="http://schemas.microsoft.com/office/powerpoint/2010/main" val="12322741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89F42-7479-3E2E-7334-3510367F27E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38CFF32-74B7-74C9-A2FE-C2CF80AB08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5A1A679-96F4-4EA2-4445-B5A5CCA9EEF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85EE3A0-5527-5E9E-8499-59745E8943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9DBA56A-5F8D-74AC-2146-39A944A0B43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8ABE41E-BA6C-3CD0-83DB-76FBF9E43E74}"/>
              </a:ext>
            </a:extLst>
          </p:cNvPr>
          <p:cNvSpPr>
            <a:spLocks noGrp="1"/>
          </p:cNvSpPr>
          <p:nvPr>
            <p:ph type="dt" sz="half" idx="10"/>
          </p:nvPr>
        </p:nvSpPr>
        <p:spPr/>
        <p:txBody>
          <a:bodyPr/>
          <a:lstStyle/>
          <a:p>
            <a:fld id="{DA881673-81C8-43D0-A713-4B585F265EC8}" type="datetimeFigureOut">
              <a:rPr lang="en-IN" smtClean="0"/>
              <a:t>31-01-2026</a:t>
            </a:fld>
            <a:endParaRPr lang="en-IN"/>
          </a:p>
        </p:txBody>
      </p:sp>
      <p:sp>
        <p:nvSpPr>
          <p:cNvPr id="8" name="Footer Placeholder 7">
            <a:extLst>
              <a:ext uri="{FF2B5EF4-FFF2-40B4-BE49-F238E27FC236}">
                <a16:creationId xmlns:a16="http://schemas.microsoft.com/office/drawing/2014/main" id="{289169FE-4254-BA65-8516-0C3FA4A435B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AFF5A78-DB31-0675-B407-85A2F6F5E9D3}"/>
              </a:ext>
            </a:extLst>
          </p:cNvPr>
          <p:cNvSpPr>
            <a:spLocks noGrp="1"/>
          </p:cNvSpPr>
          <p:nvPr>
            <p:ph type="sldNum" sz="quarter" idx="12"/>
          </p:nvPr>
        </p:nvSpPr>
        <p:spPr/>
        <p:txBody>
          <a:bodyPr/>
          <a:lstStyle/>
          <a:p>
            <a:fld id="{D1B3C46A-F046-4A96-AD59-0D5E70974421}" type="slidenum">
              <a:rPr lang="en-IN" smtClean="0"/>
              <a:t>‹#›</a:t>
            </a:fld>
            <a:endParaRPr lang="en-IN"/>
          </a:p>
        </p:txBody>
      </p:sp>
    </p:spTree>
    <p:extLst>
      <p:ext uri="{BB962C8B-B14F-4D97-AF65-F5344CB8AC3E}">
        <p14:creationId xmlns:p14="http://schemas.microsoft.com/office/powerpoint/2010/main" val="6872291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FF3A6-91AC-91C2-E9AD-C12A5D0C662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15BC823-2E9A-5FC2-4976-CB284520C484}"/>
              </a:ext>
            </a:extLst>
          </p:cNvPr>
          <p:cNvSpPr>
            <a:spLocks noGrp="1"/>
          </p:cNvSpPr>
          <p:nvPr>
            <p:ph type="dt" sz="half" idx="10"/>
          </p:nvPr>
        </p:nvSpPr>
        <p:spPr/>
        <p:txBody>
          <a:bodyPr/>
          <a:lstStyle/>
          <a:p>
            <a:fld id="{DA881673-81C8-43D0-A713-4B585F265EC8}" type="datetimeFigureOut">
              <a:rPr lang="en-IN" smtClean="0"/>
              <a:t>31-01-2026</a:t>
            </a:fld>
            <a:endParaRPr lang="en-IN"/>
          </a:p>
        </p:txBody>
      </p:sp>
      <p:sp>
        <p:nvSpPr>
          <p:cNvPr id="4" name="Footer Placeholder 3">
            <a:extLst>
              <a:ext uri="{FF2B5EF4-FFF2-40B4-BE49-F238E27FC236}">
                <a16:creationId xmlns:a16="http://schemas.microsoft.com/office/drawing/2014/main" id="{7A307523-15CA-9FF9-7159-ED6262DBE75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3FB1AD7-F735-402A-5D9A-F62AC6CCFAC2}"/>
              </a:ext>
            </a:extLst>
          </p:cNvPr>
          <p:cNvSpPr>
            <a:spLocks noGrp="1"/>
          </p:cNvSpPr>
          <p:nvPr>
            <p:ph type="sldNum" sz="quarter" idx="12"/>
          </p:nvPr>
        </p:nvSpPr>
        <p:spPr/>
        <p:txBody>
          <a:bodyPr/>
          <a:lstStyle/>
          <a:p>
            <a:fld id="{D1B3C46A-F046-4A96-AD59-0D5E70974421}" type="slidenum">
              <a:rPr lang="en-IN" smtClean="0"/>
              <a:t>‹#›</a:t>
            </a:fld>
            <a:endParaRPr lang="en-IN"/>
          </a:p>
        </p:txBody>
      </p:sp>
    </p:spTree>
    <p:extLst>
      <p:ext uri="{BB962C8B-B14F-4D97-AF65-F5344CB8AC3E}">
        <p14:creationId xmlns:p14="http://schemas.microsoft.com/office/powerpoint/2010/main" val="39317901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426E75-BEAF-0EE5-D8A4-33269F94F048}"/>
              </a:ext>
            </a:extLst>
          </p:cNvPr>
          <p:cNvSpPr>
            <a:spLocks noGrp="1"/>
          </p:cNvSpPr>
          <p:nvPr>
            <p:ph type="dt" sz="half" idx="10"/>
          </p:nvPr>
        </p:nvSpPr>
        <p:spPr/>
        <p:txBody>
          <a:bodyPr/>
          <a:lstStyle/>
          <a:p>
            <a:fld id="{DA881673-81C8-43D0-A713-4B585F265EC8}" type="datetimeFigureOut">
              <a:rPr lang="en-IN" smtClean="0"/>
              <a:t>31-01-2026</a:t>
            </a:fld>
            <a:endParaRPr lang="en-IN"/>
          </a:p>
        </p:txBody>
      </p:sp>
      <p:sp>
        <p:nvSpPr>
          <p:cNvPr id="3" name="Footer Placeholder 2">
            <a:extLst>
              <a:ext uri="{FF2B5EF4-FFF2-40B4-BE49-F238E27FC236}">
                <a16:creationId xmlns:a16="http://schemas.microsoft.com/office/drawing/2014/main" id="{85EBF9AA-F566-341B-0576-9D612BA9B5D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58B39C8-25B1-597A-AB46-879ADB4F7BB6}"/>
              </a:ext>
            </a:extLst>
          </p:cNvPr>
          <p:cNvSpPr>
            <a:spLocks noGrp="1"/>
          </p:cNvSpPr>
          <p:nvPr>
            <p:ph type="sldNum" sz="quarter" idx="12"/>
          </p:nvPr>
        </p:nvSpPr>
        <p:spPr/>
        <p:txBody>
          <a:bodyPr/>
          <a:lstStyle/>
          <a:p>
            <a:fld id="{D1B3C46A-F046-4A96-AD59-0D5E70974421}" type="slidenum">
              <a:rPr lang="en-IN" smtClean="0"/>
              <a:t>‹#›</a:t>
            </a:fld>
            <a:endParaRPr lang="en-IN"/>
          </a:p>
        </p:txBody>
      </p:sp>
    </p:spTree>
    <p:extLst>
      <p:ext uri="{BB962C8B-B14F-4D97-AF65-F5344CB8AC3E}">
        <p14:creationId xmlns:p14="http://schemas.microsoft.com/office/powerpoint/2010/main" val="1858789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2A727-8409-8179-C125-85E2781D1D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28CCD4A-D760-5766-85F2-7569FBF02B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A979E9B-31AB-82B3-091C-05E498B78F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31FD68-12ED-5CD6-82DF-3039DC21EDB8}"/>
              </a:ext>
            </a:extLst>
          </p:cNvPr>
          <p:cNvSpPr>
            <a:spLocks noGrp="1"/>
          </p:cNvSpPr>
          <p:nvPr>
            <p:ph type="dt" sz="half" idx="10"/>
          </p:nvPr>
        </p:nvSpPr>
        <p:spPr/>
        <p:txBody>
          <a:bodyPr/>
          <a:lstStyle/>
          <a:p>
            <a:fld id="{DA881673-81C8-43D0-A713-4B585F265EC8}" type="datetimeFigureOut">
              <a:rPr lang="en-IN" smtClean="0"/>
              <a:t>31-01-2026</a:t>
            </a:fld>
            <a:endParaRPr lang="en-IN"/>
          </a:p>
        </p:txBody>
      </p:sp>
      <p:sp>
        <p:nvSpPr>
          <p:cNvPr id="6" name="Footer Placeholder 5">
            <a:extLst>
              <a:ext uri="{FF2B5EF4-FFF2-40B4-BE49-F238E27FC236}">
                <a16:creationId xmlns:a16="http://schemas.microsoft.com/office/drawing/2014/main" id="{A219ABE4-15C1-867E-242F-5EE735EF804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83B9A9E-BA52-0BF3-9BDA-44B3ADB73663}"/>
              </a:ext>
            </a:extLst>
          </p:cNvPr>
          <p:cNvSpPr>
            <a:spLocks noGrp="1"/>
          </p:cNvSpPr>
          <p:nvPr>
            <p:ph type="sldNum" sz="quarter" idx="12"/>
          </p:nvPr>
        </p:nvSpPr>
        <p:spPr/>
        <p:txBody>
          <a:bodyPr/>
          <a:lstStyle/>
          <a:p>
            <a:fld id="{D1B3C46A-F046-4A96-AD59-0D5E70974421}" type="slidenum">
              <a:rPr lang="en-IN" smtClean="0"/>
              <a:t>‹#›</a:t>
            </a:fld>
            <a:endParaRPr lang="en-IN"/>
          </a:p>
        </p:txBody>
      </p:sp>
    </p:spTree>
    <p:extLst>
      <p:ext uri="{BB962C8B-B14F-4D97-AF65-F5344CB8AC3E}">
        <p14:creationId xmlns:p14="http://schemas.microsoft.com/office/powerpoint/2010/main" val="3110840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AA514-D13C-38E1-590F-5664C31B53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316AB5C-4C13-B641-3251-043FFA2121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DE6279A-8E16-B3C0-DBD6-704A82F32F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FDD2B9-651D-8B85-6877-2BAC75E4D90E}"/>
              </a:ext>
            </a:extLst>
          </p:cNvPr>
          <p:cNvSpPr>
            <a:spLocks noGrp="1"/>
          </p:cNvSpPr>
          <p:nvPr>
            <p:ph type="dt" sz="half" idx="10"/>
          </p:nvPr>
        </p:nvSpPr>
        <p:spPr/>
        <p:txBody>
          <a:bodyPr/>
          <a:lstStyle/>
          <a:p>
            <a:fld id="{DA881673-81C8-43D0-A713-4B585F265EC8}" type="datetimeFigureOut">
              <a:rPr lang="en-IN" smtClean="0"/>
              <a:t>31-01-2026</a:t>
            </a:fld>
            <a:endParaRPr lang="en-IN"/>
          </a:p>
        </p:txBody>
      </p:sp>
      <p:sp>
        <p:nvSpPr>
          <p:cNvPr id="6" name="Footer Placeholder 5">
            <a:extLst>
              <a:ext uri="{FF2B5EF4-FFF2-40B4-BE49-F238E27FC236}">
                <a16:creationId xmlns:a16="http://schemas.microsoft.com/office/drawing/2014/main" id="{E1402F75-25C5-5C38-60A3-346F818E1DF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92D5983-BD7B-DE9B-CA6A-E5BAA02151F8}"/>
              </a:ext>
            </a:extLst>
          </p:cNvPr>
          <p:cNvSpPr>
            <a:spLocks noGrp="1"/>
          </p:cNvSpPr>
          <p:nvPr>
            <p:ph type="sldNum" sz="quarter" idx="12"/>
          </p:nvPr>
        </p:nvSpPr>
        <p:spPr/>
        <p:txBody>
          <a:bodyPr/>
          <a:lstStyle/>
          <a:p>
            <a:fld id="{D1B3C46A-F046-4A96-AD59-0D5E70974421}" type="slidenum">
              <a:rPr lang="en-IN" smtClean="0"/>
              <a:t>‹#›</a:t>
            </a:fld>
            <a:endParaRPr lang="en-IN"/>
          </a:p>
        </p:txBody>
      </p:sp>
    </p:spTree>
    <p:extLst>
      <p:ext uri="{BB962C8B-B14F-4D97-AF65-F5344CB8AC3E}">
        <p14:creationId xmlns:p14="http://schemas.microsoft.com/office/powerpoint/2010/main" val="3730975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19AEC-DF64-0AF7-7105-62307FF711B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7803F66-9B30-197E-6FAE-82AD8A5D6F0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EFD00D-58CF-235D-31C2-4AC9EF89EF70}"/>
              </a:ext>
            </a:extLst>
          </p:cNvPr>
          <p:cNvSpPr>
            <a:spLocks noGrp="1"/>
          </p:cNvSpPr>
          <p:nvPr>
            <p:ph type="dt" sz="half" idx="10"/>
          </p:nvPr>
        </p:nvSpPr>
        <p:spPr/>
        <p:txBody>
          <a:bodyPr/>
          <a:lstStyle/>
          <a:p>
            <a:fld id="{DA881673-81C8-43D0-A713-4B585F265EC8}" type="datetimeFigureOut">
              <a:rPr lang="en-IN" smtClean="0"/>
              <a:t>31-01-2026</a:t>
            </a:fld>
            <a:endParaRPr lang="en-IN"/>
          </a:p>
        </p:txBody>
      </p:sp>
      <p:sp>
        <p:nvSpPr>
          <p:cNvPr id="5" name="Footer Placeholder 4">
            <a:extLst>
              <a:ext uri="{FF2B5EF4-FFF2-40B4-BE49-F238E27FC236}">
                <a16:creationId xmlns:a16="http://schemas.microsoft.com/office/drawing/2014/main" id="{B3B6AA95-F431-D00D-2AC2-B11FD4FA1C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8929B1-3B6A-C12A-8A84-903A09B97037}"/>
              </a:ext>
            </a:extLst>
          </p:cNvPr>
          <p:cNvSpPr>
            <a:spLocks noGrp="1"/>
          </p:cNvSpPr>
          <p:nvPr>
            <p:ph type="sldNum" sz="quarter" idx="12"/>
          </p:nvPr>
        </p:nvSpPr>
        <p:spPr/>
        <p:txBody>
          <a:bodyPr/>
          <a:lstStyle/>
          <a:p>
            <a:fld id="{D1B3C46A-F046-4A96-AD59-0D5E70974421}" type="slidenum">
              <a:rPr lang="en-IN" smtClean="0"/>
              <a:t>‹#›</a:t>
            </a:fld>
            <a:endParaRPr lang="en-IN"/>
          </a:p>
        </p:txBody>
      </p:sp>
    </p:spTree>
    <p:extLst>
      <p:ext uri="{BB962C8B-B14F-4D97-AF65-F5344CB8AC3E}">
        <p14:creationId xmlns:p14="http://schemas.microsoft.com/office/powerpoint/2010/main" val="34929886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33F0A9-6419-235C-457B-35048478378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27B9618-1D9B-B994-3260-B2A5D14464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5173D6-4D11-520B-3B22-CEEEBAD52C09}"/>
              </a:ext>
            </a:extLst>
          </p:cNvPr>
          <p:cNvSpPr>
            <a:spLocks noGrp="1"/>
          </p:cNvSpPr>
          <p:nvPr>
            <p:ph type="dt" sz="half" idx="10"/>
          </p:nvPr>
        </p:nvSpPr>
        <p:spPr/>
        <p:txBody>
          <a:bodyPr/>
          <a:lstStyle/>
          <a:p>
            <a:fld id="{DA881673-81C8-43D0-A713-4B585F265EC8}" type="datetimeFigureOut">
              <a:rPr lang="en-IN" smtClean="0"/>
              <a:t>31-01-2026</a:t>
            </a:fld>
            <a:endParaRPr lang="en-IN"/>
          </a:p>
        </p:txBody>
      </p:sp>
      <p:sp>
        <p:nvSpPr>
          <p:cNvPr id="5" name="Footer Placeholder 4">
            <a:extLst>
              <a:ext uri="{FF2B5EF4-FFF2-40B4-BE49-F238E27FC236}">
                <a16:creationId xmlns:a16="http://schemas.microsoft.com/office/drawing/2014/main" id="{8AA4F247-41EA-0227-40BE-709C4E6C3B9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95C037-9C99-FF19-335E-956054A7A72B}"/>
              </a:ext>
            </a:extLst>
          </p:cNvPr>
          <p:cNvSpPr>
            <a:spLocks noGrp="1"/>
          </p:cNvSpPr>
          <p:nvPr>
            <p:ph type="sldNum" sz="quarter" idx="12"/>
          </p:nvPr>
        </p:nvSpPr>
        <p:spPr/>
        <p:txBody>
          <a:bodyPr/>
          <a:lstStyle/>
          <a:p>
            <a:fld id="{D1B3C46A-F046-4A96-AD59-0D5E70974421}" type="slidenum">
              <a:rPr lang="en-IN" smtClean="0"/>
              <a:t>‹#›</a:t>
            </a:fld>
            <a:endParaRPr lang="en-IN"/>
          </a:p>
        </p:txBody>
      </p:sp>
    </p:spTree>
    <p:extLst>
      <p:ext uri="{BB962C8B-B14F-4D97-AF65-F5344CB8AC3E}">
        <p14:creationId xmlns:p14="http://schemas.microsoft.com/office/powerpoint/2010/main" val="10038563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7CE1C09-BDB6-0077-1C96-797F11C2BF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12CF367-8AFA-2331-4495-89F5E6AB5D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44DD49-7583-2BD7-2B51-6237A06BC4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A881673-81C8-43D0-A713-4B585F265EC8}" type="datetimeFigureOut">
              <a:rPr lang="en-IN" smtClean="0"/>
              <a:t>31-01-2026</a:t>
            </a:fld>
            <a:endParaRPr lang="en-IN"/>
          </a:p>
        </p:txBody>
      </p:sp>
      <p:sp>
        <p:nvSpPr>
          <p:cNvPr id="5" name="Footer Placeholder 4">
            <a:extLst>
              <a:ext uri="{FF2B5EF4-FFF2-40B4-BE49-F238E27FC236}">
                <a16:creationId xmlns:a16="http://schemas.microsoft.com/office/drawing/2014/main" id="{F1376328-5A28-6045-1E1D-3156D152E3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5973C714-A242-BF18-4318-2C01916EC7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1B3C46A-F046-4A96-AD59-0D5E70974421}" type="slidenum">
              <a:rPr lang="en-IN" smtClean="0"/>
              <a:t>‹#›</a:t>
            </a:fld>
            <a:endParaRPr lang="en-IN"/>
          </a:p>
        </p:txBody>
      </p:sp>
    </p:spTree>
    <p:extLst>
      <p:ext uri="{BB962C8B-B14F-4D97-AF65-F5344CB8AC3E}">
        <p14:creationId xmlns:p14="http://schemas.microsoft.com/office/powerpoint/2010/main" val="31094669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7653C-4003-1950-9AB3-10812B83C6BE}"/>
              </a:ext>
            </a:extLst>
          </p:cNvPr>
          <p:cNvSpPr>
            <a:spLocks noGrp="1"/>
          </p:cNvSpPr>
          <p:nvPr>
            <p:ph type="ctrTitle"/>
          </p:nvPr>
        </p:nvSpPr>
        <p:spPr>
          <a:xfrm>
            <a:off x="1524000" y="422783"/>
            <a:ext cx="9144000" cy="2074453"/>
          </a:xfrm>
        </p:spPr>
        <p:txBody>
          <a:bodyPr/>
          <a:lstStyle/>
          <a:p>
            <a:r>
              <a:rPr lang="en-IN" b="1"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NextHikes IT Solutions</a:t>
            </a:r>
            <a:endParaRPr lang="en-IN"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Subtitle 2">
            <a:extLst>
              <a:ext uri="{FF2B5EF4-FFF2-40B4-BE49-F238E27FC236}">
                <a16:creationId xmlns:a16="http://schemas.microsoft.com/office/drawing/2014/main" id="{D45E8A17-AA89-3E9E-D898-1740595DB195}"/>
              </a:ext>
            </a:extLst>
          </p:cNvPr>
          <p:cNvSpPr>
            <a:spLocks noGrp="1"/>
          </p:cNvSpPr>
          <p:nvPr>
            <p:ph type="subTitle" idx="1"/>
          </p:nvPr>
        </p:nvSpPr>
        <p:spPr>
          <a:xfrm>
            <a:off x="1524000" y="3031766"/>
            <a:ext cx="9144000" cy="1655762"/>
          </a:xfrm>
        </p:spPr>
        <p:txBody>
          <a:bodyPr/>
          <a:lstStyle/>
          <a:p>
            <a:r>
              <a:rPr lang="en-US" dirty="0">
                <a:latin typeface="Calibri Light" panose="020F0302020204030204" pitchFamily="34" charset="0"/>
                <a:ea typeface="Calibri Light" panose="020F0302020204030204" pitchFamily="34" charset="0"/>
                <a:cs typeface="Calibri Light" panose="020F0302020204030204" pitchFamily="34" charset="0"/>
              </a:rPr>
              <a:t>Exploratory Data Analysis (EDA) for Real Estate Pricing: Unveiling the Dynamics of House Valuation in a Dynamic Market</a:t>
            </a:r>
            <a:br>
              <a:rPr lang="en-US" dirty="0">
                <a:latin typeface="Calibri Light" panose="020F0302020204030204" pitchFamily="34" charset="0"/>
                <a:ea typeface="Calibri Light" panose="020F0302020204030204" pitchFamily="34" charset="0"/>
                <a:cs typeface="Calibri Light" panose="020F0302020204030204" pitchFamily="34" charset="0"/>
              </a:rPr>
            </a:br>
            <a:br>
              <a:rPr lang="en-US" dirty="0">
                <a:latin typeface="Calibri Light" panose="020F0302020204030204" pitchFamily="34" charset="0"/>
                <a:ea typeface="Calibri Light" panose="020F0302020204030204" pitchFamily="34" charset="0"/>
                <a:cs typeface="Calibri Light" panose="020F0302020204030204" pitchFamily="34" charset="0"/>
              </a:rPr>
            </a:br>
            <a:r>
              <a:rPr lang="en-US" b="1" dirty="0">
                <a:latin typeface="Calibri Light" panose="020F0302020204030204" pitchFamily="34" charset="0"/>
                <a:ea typeface="Calibri Light" panose="020F0302020204030204" pitchFamily="34" charset="0"/>
                <a:cs typeface="Calibri Light" panose="020F0302020204030204" pitchFamily="34" charset="0"/>
              </a:rPr>
              <a:t>by Harsimran Kaur</a:t>
            </a:r>
          </a:p>
          <a:p>
            <a:endParaRPr lang="en-IN" dirty="0"/>
          </a:p>
        </p:txBody>
      </p:sp>
    </p:spTree>
    <p:extLst>
      <p:ext uri="{BB962C8B-B14F-4D97-AF65-F5344CB8AC3E}">
        <p14:creationId xmlns:p14="http://schemas.microsoft.com/office/powerpoint/2010/main" val="33701693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41C47-56B0-E647-2A73-EF78E6D785A5}"/>
              </a:ext>
            </a:extLst>
          </p:cNvPr>
          <p:cNvSpPr>
            <a:spLocks noGrp="1"/>
          </p:cNvSpPr>
          <p:nvPr>
            <p:ph type="title"/>
          </p:nvPr>
        </p:nvSpPr>
        <p:spPr/>
        <p:txBody>
          <a:bodyPr/>
          <a:lstStyle/>
          <a:p>
            <a:r>
              <a:rPr lang="en-IN" b="1" dirty="0">
                <a:solidFill>
                  <a:srgbClr val="C00000"/>
                </a:solidFill>
              </a:rPr>
              <a:t>Project Overview</a:t>
            </a:r>
            <a:endParaRPr lang="en-IN" dirty="0"/>
          </a:p>
        </p:txBody>
      </p:sp>
      <p:sp>
        <p:nvSpPr>
          <p:cNvPr id="5" name="Rectangle 2">
            <a:extLst>
              <a:ext uri="{FF2B5EF4-FFF2-40B4-BE49-F238E27FC236}">
                <a16:creationId xmlns:a16="http://schemas.microsoft.com/office/drawing/2014/main" id="{5A7097DF-0AE5-09FD-FBBE-00EEFA10F472}"/>
              </a:ext>
            </a:extLst>
          </p:cNvPr>
          <p:cNvSpPr>
            <a:spLocks noGrp="1" noChangeArrowheads="1"/>
          </p:cNvSpPr>
          <p:nvPr>
            <p:ph idx="1"/>
          </p:nvPr>
        </p:nvSpPr>
        <p:spPr bwMode="auto">
          <a:xfrm>
            <a:off x="838200" y="1662192"/>
            <a:ext cx="10370574" cy="4678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This research focuses on studying house price data to better understand the elements that determine property values. Exploratory Data Analysis (EDA) was used to investigate the patterns, distributions, and correlations between major home characteristics. The dataset was cleaned, missing values were addressed, and significant numerical and categorical factors were examined. A variety of visualizations were utilized to discover patterns in property size, quality, amenities, and price behavior. </a:t>
            </a:r>
            <a:r>
              <a:rPr lang="en-US" altLang="en-US" dirty="0">
                <a:latin typeface="Calibri Light" panose="020F0302020204030204" pitchFamily="34" charset="0"/>
                <a:ea typeface="Calibri Light" panose="020F0302020204030204" pitchFamily="34" charset="0"/>
                <a:cs typeface="Calibri Light" panose="020F0302020204030204" pitchFamily="34" charset="0"/>
              </a:rPr>
              <a:t> </a:t>
            </a:r>
            <a:r>
              <a:rPr kumimoji="0" lang="en-US" altLang="en-US"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The findings of this study contribute to a better understanding of the primary drivers of house prices and aid in real estate decision making.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8857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DD21B-73E8-44CD-3816-F7CDB0EE1BC8}"/>
              </a:ext>
            </a:extLst>
          </p:cNvPr>
          <p:cNvSpPr>
            <a:spLocks noGrp="1"/>
          </p:cNvSpPr>
          <p:nvPr>
            <p:ph type="title"/>
          </p:nvPr>
        </p:nvSpPr>
        <p:spPr/>
        <p:txBody>
          <a:bodyPr>
            <a:normAutofit fontScale="90000"/>
          </a:bodyPr>
          <a:lstStyle/>
          <a:p>
            <a:r>
              <a:rPr lang="en-US" b="1" dirty="0">
                <a:solidFill>
                  <a:srgbClr val="C00000"/>
                </a:solidFill>
              </a:rPr>
              <a:t>Step 1:</a:t>
            </a:r>
            <a:r>
              <a:rPr lang="en-US" b="1" dirty="0"/>
              <a:t> </a:t>
            </a:r>
            <a:r>
              <a:rPr lang="en-IN" dirty="0"/>
              <a:t>DATA PREPROCESSING</a:t>
            </a:r>
            <a:br>
              <a:rPr lang="en-IN" dirty="0"/>
            </a:br>
            <a:r>
              <a:rPr lang="en-US" dirty="0"/>
              <a:t> </a:t>
            </a:r>
            <a:r>
              <a:rPr lang="en-US" sz="2800" dirty="0"/>
              <a:t>1.</a:t>
            </a:r>
            <a:r>
              <a:rPr lang="en-US" sz="2400" dirty="0">
                <a:latin typeface="Calibri" panose="020F0502020204030204" pitchFamily="34" charset="0"/>
                <a:ea typeface="Calibri" panose="020F0502020204030204" pitchFamily="34" charset="0"/>
                <a:cs typeface="Calibri" panose="020F0502020204030204" pitchFamily="34" charset="0"/>
              </a:rPr>
              <a:t>Missing values and duplicate records were handled</a:t>
            </a:r>
            <a:br>
              <a:rPr lang="en-US" sz="2400" dirty="0">
                <a:latin typeface="Calibri" panose="020F0502020204030204" pitchFamily="34" charset="0"/>
                <a:ea typeface="Calibri" panose="020F0502020204030204" pitchFamily="34" charset="0"/>
                <a:cs typeface="Calibri" panose="020F0502020204030204" pitchFamily="34" charset="0"/>
              </a:rPr>
            </a:br>
            <a:r>
              <a:rPr lang="en-US" sz="2400" dirty="0">
                <a:latin typeface="Calibri" panose="020F0502020204030204" pitchFamily="34" charset="0"/>
                <a:ea typeface="Calibri" panose="020F0502020204030204" pitchFamily="34" charset="0"/>
                <a:cs typeface="Calibri" panose="020F0502020204030204" pitchFamily="34" charset="0"/>
              </a:rPr>
              <a:t>  2. Unnecessary columns were removed </a:t>
            </a:r>
            <a:br>
              <a:rPr lang="en-US" sz="2400" dirty="0">
                <a:latin typeface="Calibri" panose="020F0502020204030204" pitchFamily="34" charset="0"/>
                <a:ea typeface="Calibri" panose="020F0502020204030204" pitchFamily="34" charset="0"/>
                <a:cs typeface="Calibri" panose="020F0502020204030204" pitchFamily="34" charset="0"/>
              </a:rPr>
            </a:br>
            <a:r>
              <a:rPr lang="en-US" sz="2400" dirty="0">
                <a:latin typeface="Calibri" panose="020F0502020204030204" pitchFamily="34" charset="0"/>
                <a:ea typeface="Calibri" panose="020F0502020204030204" pitchFamily="34" charset="0"/>
                <a:cs typeface="Calibri" panose="020F0502020204030204" pitchFamily="34" charset="0"/>
              </a:rPr>
              <a:t>  3. Dataset was cleaned and prepared for analysis </a:t>
            </a:r>
            <a:br>
              <a:rPr lang="en-US" sz="2400" dirty="0">
                <a:latin typeface="Calibri" panose="020F0502020204030204" pitchFamily="34" charset="0"/>
                <a:ea typeface="Calibri" panose="020F0502020204030204" pitchFamily="34" charset="0"/>
                <a:cs typeface="Calibri" panose="020F0502020204030204" pitchFamily="34" charset="0"/>
              </a:rPr>
            </a:br>
            <a:endParaRPr lang="en-IN" sz="2400" dirty="0">
              <a:latin typeface="Calibri" panose="020F0502020204030204" pitchFamily="34" charset="0"/>
              <a:ea typeface="Calibri" panose="020F0502020204030204" pitchFamily="34" charset="0"/>
              <a:cs typeface="Calibri" panose="020F0502020204030204" pitchFamily="34" charset="0"/>
            </a:endParaRPr>
          </a:p>
        </p:txBody>
      </p:sp>
      <p:pic>
        <p:nvPicPr>
          <p:cNvPr id="9" name="Content Placeholder 8">
            <a:extLst>
              <a:ext uri="{FF2B5EF4-FFF2-40B4-BE49-F238E27FC236}">
                <a16:creationId xmlns:a16="http://schemas.microsoft.com/office/drawing/2014/main" id="{509F4FDD-EEC1-4C8D-8406-3A4E85D8174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320981" y="1690688"/>
            <a:ext cx="2032819" cy="4351338"/>
          </a:xfrm>
        </p:spPr>
      </p:pic>
      <p:pic>
        <p:nvPicPr>
          <p:cNvPr id="11" name="Picture 10">
            <a:extLst>
              <a:ext uri="{FF2B5EF4-FFF2-40B4-BE49-F238E27FC236}">
                <a16:creationId xmlns:a16="http://schemas.microsoft.com/office/drawing/2014/main" id="{77CA379C-FCEC-9FA5-AE4D-5153E6FA388D}"/>
              </a:ext>
            </a:extLst>
          </p:cNvPr>
          <p:cNvPicPr>
            <a:picLocks noChangeAspect="1"/>
          </p:cNvPicPr>
          <p:nvPr/>
        </p:nvPicPr>
        <p:blipFill>
          <a:blip r:embed="rId3"/>
          <a:stretch>
            <a:fillRect/>
          </a:stretch>
        </p:blipFill>
        <p:spPr>
          <a:xfrm>
            <a:off x="484238" y="2224153"/>
            <a:ext cx="8406581" cy="2996778"/>
          </a:xfrm>
          <a:prstGeom prst="rect">
            <a:avLst/>
          </a:prstGeom>
        </p:spPr>
      </p:pic>
    </p:spTree>
    <p:extLst>
      <p:ext uri="{BB962C8B-B14F-4D97-AF65-F5344CB8AC3E}">
        <p14:creationId xmlns:p14="http://schemas.microsoft.com/office/powerpoint/2010/main" val="34001186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F6A98-E2C2-325C-6DE7-4AF7C6206D6A}"/>
              </a:ext>
            </a:extLst>
          </p:cNvPr>
          <p:cNvSpPr>
            <a:spLocks noGrp="1"/>
          </p:cNvSpPr>
          <p:nvPr>
            <p:ph type="title"/>
          </p:nvPr>
        </p:nvSpPr>
        <p:spPr/>
        <p:txBody>
          <a:bodyPr>
            <a:normAutofit fontScale="90000"/>
          </a:bodyPr>
          <a:lstStyle/>
          <a:p>
            <a:r>
              <a:rPr lang="en-US" sz="4000" b="1" dirty="0">
                <a:solidFill>
                  <a:srgbClr val="C00000"/>
                </a:solidFill>
              </a:rPr>
              <a:t>Step 2:</a:t>
            </a:r>
            <a:r>
              <a:rPr lang="en-US" sz="4000" b="1" dirty="0"/>
              <a:t> </a:t>
            </a:r>
            <a:r>
              <a:rPr lang="en-IN" sz="4000" dirty="0"/>
              <a:t>Univariate Analysis (Numerical)</a:t>
            </a:r>
            <a:br>
              <a:rPr lang="en-IN" sz="4000" dirty="0"/>
            </a:br>
            <a:r>
              <a:rPr lang="en-IN" sz="2000" dirty="0">
                <a:latin typeface="Calibri" panose="020F0502020204030204" pitchFamily="34" charset="0"/>
                <a:ea typeface="Calibri" panose="020F0502020204030204" pitchFamily="34" charset="0"/>
                <a:cs typeface="Calibri" panose="020F0502020204030204" pitchFamily="34" charset="0"/>
              </a:rPr>
              <a:t>1. Sale prices are right-skewed </a:t>
            </a:r>
            <a:br>
              <a:rPr lang="en-IN" sz="2000" dirty="0">
                <a:latin typeface="Calibri" panose="020F0502020204030204" pitchFamily="34" charset="0"/>
                <a:ea typeface="Calibri" panose="020F0502020204030204" pitchFamily="34" charset="0"/>
                <a:cs typeface="Calibri" panose="020F0502020204030204" pitchFamily="34" charset="0"/>
              </a:rPr>
            </a:br>
            <a:r>
              <a:rPr lang="en-IN" sz="2000" dirty="0">
                <a:latin typeface="Calibri" panose="020F0502020204030204" pitchFamily="34" charset="0"/>
                <a:ea typeface="Calibri" panose="020F0502020204030204" pitchFamily="34" charset="0"/>
                <a:cs typeface="Calibri" panose="020F0502020204030204" pitchFamily="34" charset="0"/>
              </a:rPr>
              <a:t>2.</a:t>
            </a:r>
            <a:r>
              <a:rPr lang="en-US" sz="2000" dirty="0">
                <a:latin typeface="Calibri" panose="020F0502020204030204" pitchFamily="34" charset="0"/>
                <a:ea typeface="Calibri" panose="020F0502020204030204" pitchFamily="34" charset="0"/>
                <a:cs typeface="Calibri" panose="020F0502020204030204" pitchFamily="34" charset="0"/>
              </a:rPr>
              <a:t> Most houses fall in the low to mid-price range </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3. Few high-priced properties exist </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pic>
        <p:nvPicPr>
          <p:cNvPr id="12290" name="Picture 2">
            <a:extLst>
              <a:ext uri="{FF2B5EF4-FFF2-40B4-BE49-F238E27FC236}">
                <a16:creationId xmlns:a16="http://schemas.microsoft.com/office/drawing/2014/main" id="{6EECE2EA-E98B-5D14-F034-1AA50F74239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69822" y="2022271"/>
            <a:ext cx="10852355"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56161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15942-F992-BBA4-B469-504D1F9BEA05}"/>
              </a:ext>
            </a:extLst>
          </p:cNvPr>
          <p:cNvSpPr>
            <a:spLocks noGrp="1"/>
          </p:cNvSpPr>
          <p:nvPr>
            <p:ph type="title"/>
          </p:nvPr>
        </p:nvSpPr>
        <p:spPr/>
        <p:txBody>
          <a:bodyPr>
            <a:normAutofit fontScale="90000"/>
          </a:bodyPr>
          <a:lstStyle/>
          <a:p>
            <a:r>
              <a:rPr lang="en-US" sz="4000" b="1" dirty="0">
                <a:solidFill>
                  <a:srgbClr val="C00000"/>
                </a:solidFill>
              </a:rPr>
              <a:t>Step 2.1: </a:t>
            </a:r>
            <a:r>
              <a:rPr lang="en-IN" sz="4000" dirty="0"/>
              <a:t>Univariate Analysis – Property Size</a:t>
            </a:r>
            <a:br>
              <a:rPr lang="en-IN" sz="4000" dirty="0"/>
            </a:br>
            <a:r>
              <a:rPr lang="en-IN" sz="2000" dirty="0">
                <a:latin typeface="Calibri" panose="020F0502020204030204" pitchFamily="34" charset="0"/>
                <a:ea typeface="Calibri" panose="020F0502020204030204" pitchFamily="34" charset="0"/>
                <a:cs typeface="Calibri" panose="020F0502020204030204" pitchFamily="34" charset="0"/>
              </a:rPr>
              <a:t>1. </a:t>
            </a:r>
            <a:r>
              <a:rPr lang="en-US" sz="2000" dirty="0">
                <a:latin typeface="Calibri" panose="020F0502020204030204" pitchFamily="34" charset="0"/>
                <a:ea typeface="Calibri" panose="020F0502020204030204" pitchFamily="34" charset="0"/>
                <a:cs typeface="Calibri" panose="020F0502020204030204" pitchFamily="34" charset="0"/>
              </a:rPr>
              <a:t>Most houses have moderate living area</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2. Distribution is right-skewed </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3. Very large houses are limited in number </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pic>
        <p:nvPicPr>
          <p:cNvPr id="11266" name="Picture 2">
            <a:extLst>
              <a:ext uri="{FF2B5EF4-FFF2-40B4-BE49-F238E27FC236}">
                <a16:creationId xmlns:a16="http://schemas.microsoft.com/office/drawing/2014/main" id="{613350F8-620F-79D7-A677-200CB69DCC5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47252" y="2032103"/>
            <a:ext cx="10606548"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7025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AF6BA-9E68-B425-3B87-5CD9DAE04773}"/>
              </a:ext>
            </a:extLst>
          </p:cNvPr>
          <p:cNvSpPr>
            <a:spLocks noGrp="1"/>
          </p:cNvSpPr>
          <p:nvPr>
            <p:ph type="title"/>
          </p:nvPr>
        </p:nvSpPr>
        <p:spPr/>
        <p:txBody>
          <a:bodyPr>
            <a:normAutofit fontScale="90000"/>
          </a:bodyPr>
          <a:lstStyle/>
          <a:p>
            <a:r>
              <a:rPr lang="en-US" sz="4000" b="1" dirty="0">
                <a:solidFill>
                  <a:srgbClr val="C00000"/>
                </a:solidFill>
              </a:rPr>
              <a:t>Step 3:</a:t>
            </a:r>
            <a:r>
              <a:rPr lang="en-US" sz="4000" b="1" dirty="0"/>
              <a:t> </a:t>
            </a:r>
            <a:r>
              <a:rPr lang="en-IN" sz="4000" dirty="0"/>
              <a:t>Skewness Analysis – Key Observation</a:t>
            </a:r>
            <a:br>
              <a:rPr lang="en-IN" sz="4000" dirty="0"/>
            </a:br>
            <a:r>
              <a:rPr lang="en-IN" sz="2000" dirty="0">
                <a:latin typeface="Calibri" panose="020F0502020204030204" pitchFamily="34" charset="0"/>
                <a:ea typeface="Calibri" panose="020F0502020204030204" pitchFamily="34" charset="0"/>
                <a:cs typeface="Calibri" panose="020F0502020204030204" pitchFamily="34" charset="0"/>
              </a:rPr>
              <a:t>1.</a:t>
            </a:r>
            <a:r>
              <a:rPr lang="en-US" sz="2000" dirty="0">
                <a:latin typeface="Calibri" panose="020F0502020204030204" pitchFamily="34" charset="0"/>
                <a:ea typeface="Calibri" panose="020F0502020204030204" pitchFamily="34" charset="0"/>
                <a:cs typeface="Calibri" panose="020F0502020204030204" pitchFamily="34" charset="0"/>
              </a:rPr>
              <a:t> Sale Price, Lot Area, and GrLivArea are right-skewed </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2. Most houses fall in lower to mid-value ranges</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3 Few high-value properties create long right tails</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pic>
        <p:nvPicPr>
          <p:cNvPr id="10242" name="Picture 2">
            <a:extLst>
              <a:ext uri="{FF2B5EF4-FFF2-40B4-BE49-F238E27FC236}">
                <a16:creationId xmlns:a16="http://schemas.microsoft.com/office/drawing/2014/main" id="{197F3A16-5C71-8215-C054-DF7F756C005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933780"/>
            <a:ext cx="10695039"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469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16511-FF25-8F15-BAF4-3B7984ADBEC2}"/>
              </a:ext>
            </a:extLst>
          </p:cNvPr>
          <p:cNvSpPr>
            <a:spLocks noGrp="1"/>
          </p:cNvSpPr>
          <p:nvPr>
            <p:ph type="title"/>
          </p:nvPr>
        </p:nvSpPr>
        <p:spPr/>
        <p:txBody>
          <a:bodyPr>
            <a:normAutofit fontScale="90000"/>
          </a:bodyPr>
          <a:lstStyle/>
          <a:p>
            <a:r>
              <a:rPr lang="en-US" sz="4000" b="1" dirty="0">
                <a:solidFill>
                  <a:srgbClr val="C00000"/>
                </a:solidFill>
              </a:rPr>
              <a:t>Step 4:</a:t>
            </a:r>
            <a:r>
              <a:rPr lang="en-US" sz="4000" b="1" dirty="0"/>
              <a:t> </a:t>
            </a:r>
            <a:r>
              <a:rPr lang="en-IN" sz="4000" dirty="0"/>
              <a:t>Univariate Analysis – Categorical Features</a:t>
            </a:r>
            <a:br>
              <a:rPr lang="en-IN" sz="4000" dirty="0"/>
            </a:br>
            <a:r>
              <a:rPr lang="en-IN" sz="2000" dirty="0">
                <a:latin typeface="Calibri" panose="020F0502020204030204" pitchFamily="34" charset="0"/>
                <a:ea typeface="Calibri" panose="020F0502020204030204" pitchFamily="34" charset="0"/>
                <a:cs typeface="Calibri" panose="020F0502020204030204" pitchFamily="34" charset="0"/>
              </a:rPr>
              <a:t>1.</a:t>
            </a:r>
            <a:r>
              <a:rPr lang="en-US" sz="2000" dirty="0">
                <a:latin typeface="Calibri" panose="020F0502020204030204" pitchFamily="34" charset="0"/>
                <a:ea typeface="Calibri" panose="020F0502020204030204" pitchFamily="34" charset="0"/>
                <a:cs typeface="Calibri" panose="020F0502020204030204" pitchFamily="34" charset="0"/>
              </a:rPr>
              <a:t> Most houses fall in average to good quality range</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2. Very high-quality houses are limited in number </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3. Quality varies significantly across properties </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pic>
        <p:nvPicPr>
          <p:cNvPr id="9218" name="Picture 2">
            <a:extLst>
              <a:ext uri="{FF2B5EF4-FFF2-40B4-BE49-F238E27FC236}">
                <a16:creationId xmlns:a16="http://schemas.microsoft.com/office/drawing/2014/main" id="{90CED965-2E23-EDB4-876F-A2F76C9D974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73626" y="2141537"/>
            <a:ext cx="10980174"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8873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EE09B-724D-6DDA-FD1E-43B54F4FE272}"/>
              </a:ext>
            </a:extLst>
          </p:cNvPr>
          <p:cNvSpPr>
            <a:spLocks noGrp="1"/>
          </p:cNvSpPr>
          <p:nvPr>
            <p:ph type="title"/>
          </p:nvPr>
        </p:nvSpPr>
        <p:spPr>
          <a:xfrm>
            <a:off x="766916" y="365125"/>
            <a:ext cx="10586884" cy="1355520"/>
          </a:xfrm>
        </p:spPr>
        <p:txBody>
          <a:bodyPr>
            <a:normAutofit fontScale="90000"/>
          </a:bodyPr>
          <a:lstStyle/>
          <a:p>
            <a:r>
              <a:rPr lang="en-US" sz="4000" b="1" dirty="0">
                <a:solidFill>
                  <a:srgbClr val="C00000"/>
                </a:solidFill>
              </a:rPr>
              <a:t>Step 5:</a:t>
            </a:r>
            <a:r>
              <a:rPr lang="en-US" sz="4000" dirty="0"/>
              <a:t> Bivariate Analysis – Sale Price vs Lot Area</a:t>
            </a:r>
            <a:br>
              <a:rPr lang="en-US" sz="4000" dirty="0"/>
            </a:br>
            <a:r>
              <a:rPr lang="en-US" sz="2000" dirty="0">
                <a:latin typeface="Calibri" panose="020F0502020204030204" pitchFamily="34" charset="0"/>
                <a:ea typeface="Calibri" panose="020F0502020204030204" pitchFamily="34" charset="0"/>
                <a:cs typeface="Calibri" panose="020F0502020204030204" pitchFamily="34" charset="0"/>
              </a:rPr>
              <a:t>1. Larger lot areas generally tend to have higher prices </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2. Relationship is weak to moderate </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3. Lot size alone does not determine price</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pic>
        <p:nvPicPr>
          <p:cNvPr id="8194" name="Picture 2">
            <a:extLst>
              <a:ext uri="{FF2B5EF4-FFF2-40B4-BE49-F238E27FC236}">
                <a16:creationId xmlns:a16="http://schemas.microsoft.com/office/drawing/2014/main" id="{C3603A91-B425-FD54-7289-DA8998EF3CF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99768" y="1933780"/>
            <a:ext cx="10992464"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06265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C69C9-7BAB-39AA-2558-A2520E20C7B2}"/>
              </a:ext>
            </a:extLst>
          </p:cNvPr>
          <p:cNvSpPr>
            <a:spLocks noGrp="1"/>
          </p:cNvSpPr>
          <p:nvPr>
            <p:ph type="title"/>
          </p:nvPr>
        </p:nvSpPr>
        <p:spPr/>
        <p:txBody>
          <a:bodyPr>
            <a:normAutofit fontScale="90000"/>
          </a:bodyPr>
          <a:lstStyle/>
          <a:p>
            <a:r>
              <a:rPr lang="en-US" sz="4000" b="1" dirty="0">
                <a:solidFill>
                  <a:srgbClr val="C00000"/>
                </a:solidFill>
              </a:rPr>
              <a:t>Step 6:</a:t>
            </a:r>
            <a:r>
              <a:rPr lang="en-US" sz="4000" dirty="0"/>
              <a:t> Bivariate Analysis – Sale Price vs Living Area</a:t>
            </a:r>
            <a:br>
              <a:rPr lang="en-US" sz="4000" dirty="0"/>
            </a:br>
            <a:r>
              <a:rPr lang="en-US" sz="2200" dirty="0">
                <a:latin typeface="Calibri" panose="020F0502020204030204" pitchFamily="34" charset="0"/>
                <a:ea typeface="Calibri" panose="020F0502020204030204" pitchFamily="34" charset="0"/>
                <a:cs typeface="Calibri" panose="020F0502020204030204" pitchFamily="34" charset="0"/>
              </a:rPr>
              <a:t>Compared to lot area, living area shows a much stronger influence on house prices.</a:t>
            </a:r>
            <a:endParaRPr lang="en-IN" sz="2200" dirty="0">
              <a:latin typeface="Calibri" panose="020F0502020204030204" pitchFamily="34" charset="0"/>
              <a:ea typeface="Calibri" panose="020F0502020204030204" pitchFamily="34" charset="0"/>
              <a:cs typeface="Calibri" panose="020F0502020204030204" pitchFamily="34" charset="0"/>
            </a:endParaRPr>
          </a:p>
        </p:txBody>
      </p:sp>
      <p:pic>
        <p:nvPicPr>
          <p:cNvPr id="7170" name="Picture 2">
            <a:extLst>
              <a:ext uri="{FF2B5EF4-FFF2-40B4-BE49-F238E27FC236}">
                <a16:creationId xmlns:a16="http://schemas.microsoft.com/office/drawing/2014/main" id="{91F75177-55B8-B661-C721-C4BF6F31C16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07923" y="1894451"/>
            <a:ext cx="10439400"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28763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D81FB-008D-472A-35D0-463A83FF297E}"/>
              </a:ext>
            </a:extLst>
          </p:cNvPr>
          <p:cNvSpPr>
            <a:spLocks noGrp="1"/>
          </p:cNvSpPr>
          <p:nvPr>
            <p:ph type="title"/>
          </p:nvPr>
        </p:nvSpPr>
        <p:spPr/>
        <p:txBody>
          <a:bodyPr>
            <a:normAutofit fontScale="90000"/>
          </a:bodyPr>
          <a:lstStyle/>
          <a:p>
            <a:r>
              <a:rPr lang="en-US" sz="4000" b="1" dirty="0">
                <a:solidFill>
                  <a:srgbClr val="C00000"/>
                </a:solidFill>
              </a:rPr>
              <a:t>Step 7:</a:t>
            </a:r>
            <a:r>
              <a:rPr lang="en-IN" sz="4000" dirty="0"/>
              <a:t> Bivariate Analysis – Sale Price vs Overall Quality</a:t>
            </a:r>
            <a:br>
              <a:rPr lang="en-IN" sz="4000" dirty="0"/>
            </a:br>
            <a:r>
              <a:rPr lang="en-IN" sz="2200" dirty="0">
                <a:latin typeface="Calibri" panose="020F0502020204030204" pitchFamily="34" charset="0"/>
                <a:ea typeface="Calibri" panose="020F0502020204030204" pitchFamily="34" charset="0"/>
                <a:cs typeface="Calibri" panose="020F0502020204030204" pitchFamily="34" charset="0"/>
              </a:rPr>
              <a:t>1.</a:t>
            </a:r>
            <a:r>
              <a:rPr lang="en-US" sz="2200" dirty="0">
                <a:latin typeface="Calibri" panose="020F0502020204030204" pitchFamily="34" charset="0"/>
                <a:ea typeface="Calibri" panose="020F0502020204030204" pitchFamily="34" charset="0"/>
                <a:cs typeface="Calibri" panose="020F0502020204030204" pitchFamily="34" charset="0"/>
              </a:rPr>
              <a:t> Sale price increases with improvement in overall quality </a:t>
            </a:r>
            <a:br>
              <a:rPr lang="en-US" sz="2200" dirty="0">
                <a:latin typeface="Calibri" panose="020F0502020204030204" pitchFamily="34" charset="0"/>
                <a:ea typeface="Calibri" panose="020F0502020204030204" pitchFamily="34" charset="0"/>
                <a:cs typeface="Calibri" panose="020F0502020204030204" pitchFamily="34" charset="0"/>
              </a:rPr>
            </a:br>
            <a:r>
              <a:rPr lang="en-US" sz="2200" dirty="0">
                <a:latin typeface="Calibri" panose="020F0502020204030204" pitchFamily="34" charset="0"/>
                <a:ea typeface="Calibri" panose="020F0502020204030204" pitchFamily="34" charset="0"/>
                <a:cs typeface="Calibri" panose="020F0502020204030204" pitchFamily="34" charset="0"/>
              </a:rPr>
              <a:t>2. Higher quality houses have higher median prices</a:t>
            </a:r>
            <a:br>
              <a:rPr lang="en-US" sz="2200" dirty="0">
                <a:latin typeface="Calibri" panose="020F0502020204030204" pitchFamily="34" charset="0"/>
                <a:ea typeface="Calibri" panose="020F0502020204030204" pitchFamily="34" charset="0"/>
                <a:cs typeface="Calibri" panose="020F0502020204030204" pitchFamily="34" charset="0"/>
              </a:rPr>
            </a:br>
            <a:r>
              <a:rPr lang="en-US" sz="2200" dirty="0">
                <a:latin typeface="Calibri" panose="020F0502020204030204" pitchFamily="34" charset="0"/>
                <a:ea typeface="Calibri" panose="020F0502020204030204" pitchFamily="34" charset="0"/>
                <a:cs typeface="Calibri" panose="020F0502020204030204" pitchFamily="34" charset="0"/>
              </a:rPr>
              <a:t>3. Quality plays a key role in house pricing</a:t>
            </a:r>
            <a:br>
              <a:rPr lang="en-IN" sz="4000" dirty="0"/>
            </a:br>
            <a:endParaRPr lang="en-IN" sz="4000" dirty="0"/>
          </a:p>
        </p:txBody>
      </p:sp>
      <p:pic>
        <p:nvPicPr>
          <p:cNvPr id="6146" name="Picture 2">
            <a:extLst>
              <a:ext uri="{FF2B5EF4-FFF2-40B4-BE49-F238E27FC236}">
                <a16:creationId xmlns:a16="http://schemas.microsoft.com/office/drawing/2014/main" id="{AABA1687-52A0-6B32-FFFC-EBEDB1E5E3C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27588" y="1904283"/>
            <a:ext cx="1021571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4333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50166-5E66-7D4E-38CE-F827965F0276}"/>
              </a:ext>
            </a:extLst>
          </p:cNvPr>
          <p:cNvSpPr>
            <a:spLocks noGrp="1"/>
          </p:cNvSpPr>
          <p:nvPr>
            <p:ph type="title"/>
          </p:nvPr>
        </p:nvSpPr>
        <p:spPr/>
        <p:txBody>
          <a:bodyPr>
            <a:normAutofit fontScale="90000"/>
          </a:bodyPr>
          <a:lstStyle/>
          <a:p>
            <a:r>
              <a:rPr lang="en-US" sz="4000" b="1" dirty="0">
                <a:solidFill>
                  <a:srgbClr val="C00000"/>
                </a:solidFill>
              </a:rPr>
              <a:t>Step 8: </a:t>
            </a:r>
            <a:r>
              <a:rPr lang="en-IN" sz="4000" dirty="0"/>
              <a:t>Outlier Observation</a:t>
            </a:r>
            <a:br>
              <a:rPr lang="en-IN" sz="4000" dirty="0"/>
            </a:br>
            <a:r>
              <a:rPr lang="en-IN" sz="2000" dirty="0">
                <a:latin typeface="Calibri" panose="020F0502020204030204" pitchFamily="34" charset="0"/>
                <a:ea typeface="Calibri" panose="020F0502020204030204" pitchFamily="34" charset="0"/>
                <a:cs typeface="Calibri" panose="020F0502020204030204" pitchFamily="34" charset="0"/>
              </a:rPr>
              <a:t>1.</a:t>
            </a:r>
            <a:r>
              <a:rPr lang="en-US" sz="2000" dirty="0">
                <a:latin typeface="Calibri" panose="020F0502020204030204" pitchFamily="34" charset="0"/>
                <a:ea typeface="Calibri" panose="020F0502020204030204" pitchFamily="34" charset="0"/>
                <a:cs typeface="Calibri" panose="020F0502020204030204" pitchFamily="34" charset="0"/>
              </a:rPr>
              <a:t> Some high-priced properties appear as outliers </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2. These represent genuine luxury houses</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3. Outliers were retained to reflect real market behavior</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pic>
        <p:nvPicPr>
          <p:cNvPr id="5122" name="Picture 2">
            <a:extLst>
              <a:ext uri="{FF2B5EF4-FFF2-40B4-BE49-F238E27FC236}">
                <a16:creationId xmlns:a16="http://schemas.microsoft.com/office/drawing/2014/main" id="{A09149D1-049B-B527-92AC-9A8EFA57A2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497" y="1808675"/>
            <a:ext cx="10943303" cy="4886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21386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DDA3C-6672-F547-7A71-25913B9BE5C2}"/>
              </a:ext>
            </a:extLst>
          </p:cNvPr>
          <p:cNvSpPr>
            <a:spLocks noGrp="1"/>
          </p:cNvSpPr>
          <p:nvPr>
            <p:ph type="title"/>
          </p:nvPr>
        </p:nvSpPr>
        <p:spPr/>
        <p:txBody>
          <a:bodyPr>
            <a:normAutofit fontScale="90000"/>
          </a:bodyPr>
          <a:lstStyle/>
          <a:p>
            <a:r>
              <a:rPr lang="en-US" b="1" dirty="0">
                <a:solidFill>
                  <a:srgbClr val="C00000"/>
                </a:solidFill>
              </a:rPr>
              <a:t>Step 9: </a:t>
            </a:r>
            <a:r>
              <a:rPr lang="en-IN" dirty="0"/>
              <a:t>Correlation Analysis</a:t>
            </a:r>
            <a:br>
              <a:rPr lang="en-IN" dirty="0"/>
            </a:br>
            <a:r>
              <a:rPr lang="en-IN" sz="2200" dirty="0">
                <a:latin typeface="Calibri" panose="020F0502020204030204" pitchFamily="34" charset="0"/>
                <a:ea typeface="Calibri" panose="020F0502020204030204" pitchFamily="34" charset="0"/>
                <a:cs typeface="Calibri" panose="020F0502020204030204" pitchFamily="34" charset="0"/>
              </a:rPr>
              <a:t>1.</a:t>
            </a:r>
            <a:r>
              <a:rPr lang="en-US" sz="2200" dirty="0">
                <a:latin typeface="Calibri" panose="020F0502020204030204" pitchFamily="34" charset="0"/>
                <a:ea typeface="Calibri" panose="020F0502020204030204" pitchFamily="34" charset="0"/>
                <a:cs typeface="Calibri" panose="020F0502020204030204" pitchFamily="34" charset="0"/>
              </a:rPr>
              <a:t> Sale Price has strong correlation with OverallQual and GrLivArea</a:t>
            </a:r>
            <a:br>
              <a:rPr lang="en-US" sz="2200" dirty="0">
                <a:latin typeface="Calibri" panose="020F0502020204030204" pitchFamily="34" charset="0"/>
                <a:ea typeface="Calibri" panose="020F0502020204030204" pitchFamily="34" charset="0"/>
                <a:cs typeface="Calibri" panose="020F0502020204030204" pitchFamily="34" charset="0"/>
              </a:rPr>
            </a:br>
            <a:r>
              <a:rPr lang="en-US" sz="2200" dirty="0">
                <a:latin typeface="Calibri" panose="020F0502020204030204" pitchFamily="34" charset="0"/>
                <a:ea typeface="Calibri" panose="020F0502020204030204" pitchFamily="34" charset="0"/>
                <a:cs typeface="Calibri" panose="020F0502020204030204" pitchFamily="34" charset="0"/>
              </a:rPr>
              <a:t>2. GarageCars and TotalBsmtSF show moderate positive correlation</a:t>
            </a:r>
            <a:br>
              <a:rPr lang="en-US" sz="2200" dirty="0">
                <a:latin typeface="Calibri" panose="020F0502020204030204" pitchFamily="34" charset="0"/>
                <a:ea typeface="Calibri" panose="020F0502020204030204" pitchFamily="34" charset="0"/>
                <a:cs typeface="Calibri" panose="020F0502020204030204" pitchFamily="34" charset="0"/>
              </a:rPr>
            </a:br>
            <a:r>
              <a:rPr lang="en-US" sz="2200" dirty="0">
                <a:latin typeface="Calibri" panose="020F0502020204030204" pitchFamily="34" charset="0"/>
                <a:ea typeface="Calibri" panose="020F0502020204030204" pitchFamily="34" charset="0"/>
                <a:cs typeface="Calibri" panose="020F0502020204030204" pitchFamily="34" charset="0"/>
              </a:rPr>
              <a:t>3. LotArea has weaker influence on price </a:t>
            </a:r>
            <a:endParaRPr lang="en-IN" sz="2200" dirty="0">
              <a:latin typeface="Calibri" panose="020F0502020204030204" pitchFamily="34" charset="0"/>
              <a:ea typeface="Calibri" panose="020F0502020204030204" pitchFamily="34" charset="0"/>
              <a:cs typeface="Calibri" panose="020F0502020204030204" pitchFamily="34" charset="0"/>
            </a:endParaRPr>
          </a:p>
        </p:txBody>
      </p:sp>
      <p:pic>
        <p:nvPicPr>
          <p:cNvPr id="2050" name="Picture 2">
            <a:extLst>
              <a:ext uri="{FF2B5EF4-FFF2-40B4-BE49-F238E27FC236}">
                <a16:creationId xmlns:a16="http://schemas.microsoft.com/office/drawing/2014/main" id="{1CD2A75D-5438-229D-F2AD-975BB5A9326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39878" y="1992773"/>
            <a:ext cx="1016409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79466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2C0C7-2E3B-F080-0FAC-4826FEE18057}"/>
              </a:ext>
            </a:extLst>
          </p:cNvPr>
          <p:cNvSpPr>
            <a:spLocks noGrp="1"/>
          </p:cNvSpPr>
          <p:nvPr>
            <p:ph type="title"/>
          </p:nvPr>
        </p:nvSpPr>
        <p:spPr/>
        <p:txBody>
          <a:bodyPr>
            <a:normAutofit fontScale="90000"/>
          </a:bodyPr>
          <a:lstStyle/>
          <a:p>
            <a:r>
              <a:rPr lang="en-US" sz="4000" b="1" dirty="0">
                <a:solidFill>
                  <a:srgbClr val="C00000"/>
                </a:solidFill>
                <a:latin typeface="Calibri" panose="020F0502020204030204" pitchFamily="34" charset="0"/>
                <a:ea typeface="Calibri" panose="020F0502020204030204" pitchFamily="34" charset="0"/>
                <a:cs typeface="Calibri" panose="020F0502020204030204" pitchFamily="34" charset="0"/>
              </a:rPr>
              <a:t>Step 10: </a:t>
            </a:r>
            <a:r>
              <a:rPr lang="en-IN" sz="4000" dirty="0">
                <a:latin typeface="Calibri" panose="020F0502020204030204" pitchFamily="34" charset="0"/>
                <a:ea typeface="Calibri" panose="020F0502020204030204" pitchFamily="34" charset="0"/>
                <a:cs typeface="Calibri" panose="020F0502020204030204" pitchFamily="34" charset="0"/>
              </a:rPr>
              <a:t>Amenities Analysis</a:t>
            </a:r>
            <a:br>
              <a:rPr lang="en-IN" sz="4000" dirty="0">
                <a:latin typeface="Calibri" panose="020F0502020204030204" pitchFamily="34" charset="0"/>
                <a:ea typeface="Calibri" panose="020F0502020204030204" pitchFamily="34" charset="0"/>
                <a:cs typeface="Calibri" panose="020F0502020204030204" pitchFamily="34" charset="0"/>
              </a:rPr>
            </a:br>
            <a:r>
              <a:rPr lang="en-IN" sz="2200" dirty="0">
                <a:latin typeface="Calibri" panose="020F0502020204030204" pitchFamily="34" charset="0"/>
                <a:ea typeface="Calibri" panose="020F0502020204030204" pitchFamily="34" charset="0"/>
                <a:cs typeface="Calibri" panose="020F0502020204030204" pitchFamily="34" charset="0"/>
              </a:rPr>
              <a:t>1.</a:t>
            </a:r>
            <a:r>
              <a:rPr lang="en-US" sz="2200" dirty="0">
                <a:latin typeface="Calibri" panose="020F0502020204030204" pitchFamily="34" charset="0"/>
                <a:ea typeface="Calibri" panose="020F0502020204030204" pitchFamily="34" charset="0"/>
                <a:cs typeface="Calibri" panose="020F0502020204030204" pitchFamily="34" charset="0"/>
              </a:rPr>
              <a:t> Houses with more amenities tend to have higher prices</a:t>
            </a:r>
            <a:br>
              <a:rPr lang="en-US" sz="2200" dirty="0">
                <a:latin typeface="Calibri" panose="020F0502020204030204" pitchFamily="34" charset="0"/>
                <a:ea typeface="Calibri" panose="020F0502020204030204" pitchFamily="34" charset="0"/>
                <a:cs typeface="Calibri" panose="020F0502020204030204" pitchFamily="34" charset="0"/>
              </a:rPr>
            </a:br>
            <a:r>
              <a:rPr lang="en-US" sz="2200" dirty="0">
                <a:latin typeface="Calibri" panose="020F0502020204030204" pitchFamily="34" charset="0"/>
                <a:ea typeface="Calibri" panose="020F0502020204030204" pitchFamily="34" charset="0"/>
                <a:cs typeface="Calibri" panose="020F0502020204030204" pitchFamily="34" charset="0"/>
              </a:rPr>
              <a:t>2. Garage capacity shows a positive impact on sale price</a:t>
            </a:r>
            <a:br>
              <a:rPr lang="en-US" sz="2200" dirty="0">
                <a:latin typeface="Calibri" panose="020F0502020204030204" pitchFamily="34" charset="0"/>
                <a:ea typeface="Calibri" panose="020F0502020204030204" pitchFamily="34" charset="0"/>
                <a:cs typeface="Calibri" panose="020F0502020204030204" pitchFamily="34" charset="0"/>
              </a:rPr>
            </a:br>
            <a:r>
              <a:rPr lang="en-US" sz="2200" dirty="0">
                <a:latin typeface="Calibri" panose="020F0502020204030204" pitchFamily="34" charset="0"/>
                <a:ea typeface="Calibri" panose="020F0502020204030204" pitchFamily="34" charset="0"/>
                <a:cs typeface="Calibri" panose="020F0502020204030204" pitchFamily="34" charset="0"/>
              </a:rPr>
              <a:t>3. Amenities add value but are secondary to quality and size</a:t>
            </a:r>
            <a:endParaRPr lang="en-IN" sz="2200" dirty="0">
              <a:latin typeface="Calibri" panose="020F0502020204030204" pitchFamily="34" charset="0"/>
              <a:ea typeface="Calibri" panose="020F0502020204030204" pitchFamily="34" charset="0"/>
              <a:cs typeface="Calibri" panose="020F0502020204030204" pitchFamily="34" charset="0"/>
            </a:endParaRPr>
          </a:p>
        </p:txBody>
      </p:sp>
      <p:pic>
        <p:nvPicPr>
          <p:cNvPr id="3074" name="Picture 2">
            <a:extLst>
              <a:ext uri="{FF2B5EF4-FFF2-40B4-BE49-F238E27FC236}">
                <a16:creationId xmlns:a16="http://schemas.microsoft.com/office/drawing/2014/main" id="{0A857B98-B4DB-AA10-4089-9385DC4157D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3961" y="1897626"/>
            <a:ext cx="11267768" cy="44464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09890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A53CE-DCDE-344B-F4EB-CAC5BD9D2681}"/>
              </a:ext>
            </a:extLst>
          </p:cNvPr>
          <p:cNvSpPr>
            <a:spLocks noGrp="1"/>
          </p:cNvSpPr>
          <p:nvPr>
            <p:ph type="title"/>
          </p:nvPr>
        </p:nvSpPr>
        <p:spPr/>
        <p:txBody>
          <a:bodyPr/>
          <a:lstStyle/>
          <a:p>
            <a:pPr algn="ctr"/>
            <a:r>
              <a:rPr lang="en-IN" dirty="0">
                <a:solidFill>
                  <a:srgbClr val="C00000"/>
                </a:solidFill>
              </a:rPr>
              <a:t>Challenges, Learnings &amp; Summary</a:t>
            </a:r>
          </a:p>
        </p:txBody>
      </p:sp>
      <p:sp>
        <p:nvSpPr>
          <p:cNvPr id="4" name="Rectangle 1">
            <a:extLst>
              <a:ext uri="{FF2B5EF4-FFF2-40B4-BE49-F238E27FC236}">
                <a16:creationId xmlns:a16="http://schemas.microsoft.com/office/drawing/2014/main" id="{33C41748-9388-46F7-DF53-A67197E53794}"/>
              </a:ext>
            </a:extLst>
          </p:cNvPr>
          <p:cNvSpPr>
            <a:spLocks noGrp="1" noChangeArrowheads="1"/>
          </p:cNvSpPr>
          <p:nvPr>
            <p:ph idx="1"/>
          </p:nvPr>
        </p:nvSpPr>
        <p:spPr bwMode="auto">
          <a:xfrm>
            <a:off x="975847" y="2087074"/>
            <a:ext cx="9859297"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Extreme home prices, unreliable data, and missing values were among the difficulties encountered during the analysis. These problems were resolved by meticulously cleaning the data and employing visual analysis to identify trends without eliminating reliable observations. The overall analysis revealed that living area and overall quality have the most effects on home pricing, with amenities adding extra but secondary value. This study serves as an example of how exploratory data analysis can successfully yield insightful information and facilitate improved decision-making.</a:t>
            </a:r>
          </a:p>
        </p:txBody>
      </p:sp>
    </p:spTree>
    <p:extLst>
      <p:ext uri="{BB962C8B-B14F-4D97-AF65-F5344CB8AC3E}">
        <p14:creationId xmlns:p14="http://schemas.microsoft.com/office/powerpoint/2010/main" val="32872910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7A672-6E3A-D312-FF72-2C17695BCFED}"/>
              </a:ext>
            </a:extLst>
          </p:cNvPr>
          <p:cNvSpPr>
            <a:spLocks noGrp="1"/>
          </p:cNvSpPr>
          <p:nvPr>
            <p:ph type="title"/>
          </p:nvPr>
        </p:nvSpPr>
        <p:spPr>
          <a:xfrm>
            <a:off x="838200" y="2695378"/>
            <a:ext cx="10515600" cy="1325563"/>
          </a:xfrm>
        </p:spPr>
        <p:txBody>
          <a:bodyPr>
            <a:normAutofit/>
          </a:bodyPr>
          <a:lstStyle/>
          <a:p>
            <a:pPr algn="ctr"/>
            <a:r>
              <a:rPr lang="en-US" sz="6000" dirty="0">
                <a:solidFill>
                  <a:srgbClr val="C00000"/>
                </a:solidFill>
                <a:latin typeface="Algerian" panose="04020705040A02060702" pitchFamily="82" charset="0"/>
              </a:rPr>
              <a:t>Thank you </a:t>
            </a:r>
            <a:endParaRPr lang="en-IN" sz="6000" dirty="0">
              <a:solidFill>
                <a:srgbClr val="C00000"/>
              </a:solidFill>
              <a:latin typeface="Algerian" panose="04020705040A02060702" pitchFamily="82" charset="0"/>
            </a:endParaRPr>
          </a:p>
        </p:txBody>
      </p:sp>
    </p:spTree>
    <p:extLst>
      <p:ext uri="{BB962C8B-B14F-4D97-AF65-F5344CB8AC3E}">
        <p14:creationId xmlns:p14="http://schemas.microsoft.com/office/powerpoint/2010/main" val="39011556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636</Words>
  <Application>Microsoft Office PowerPoint</Application>
  <PresentationFormat>Widescreen</PresentationFormat>
  <Paragraphs>18</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Algerian</vt:lpstr>
      <vt:lpstr>Aptos</vt:lpstr>
      <vt:lpstr>Aptos Display</vt:lpstr>
      <vt:lpstr>Arial</vt:lpstr>
      <vt:lpstr>Calibri</vt:lpstr>
      <vt:lpstr>Calibri Light</vt:lpstr>
      <vt:lpstr>Office Theme</vt:lpstr>
      <vt:lpstr>NextHikes IT Solutions</vt:lpstr>
      <vt:lpstr>Project Overview</vt:lpstr>
      <vt:lpstr>Step 1: DATA PREPROCESSING  1.Missing values and duplicate records were handled   2. Unnecessary columns were removed    3. Dataset was cleaned and prepared for analysis  </vt:lpstr>
      <vt:lpstr>Step 2: Univariate Analysis (Numerical) 1. Sale prices are right-skewed  2. Most houses fall in the low to mid-price range  3. Few high-priced properties exist </vt:lpstr>
      <vt:lpstr>Step 2.1: Univariate Analysis – Property Size 1. Most houses have moderate living area 2. Distribution is right-skewed  3. Very large houses are limited in number </vt:lpstr>
      <vt:lpstr>Step 3: Skewness Analysis – Key Observation 1. Sale Price, Lot Area, and GrLivArea are right-skewed  2. Most houses fall in lower to mid-value ranges 3 Few high-value properties create long right tails</vt:lpstr>
      <vt:lpstr>Step 4: Univariate Analysis – Categorical Features 1. Most houses fall in average to good quality range 2. Very high-quality houses are limited in number  3. Quality varies significantly across properties </vt:lpstr>
      <vt:lpstr>Step 5: Bivariate Analysis – Sale Price vs Lot Area 1. Larger lot areas generally tend to have higher prices  2. Relationship is weak to moderate  3. Lot size alone does not determine price</vt:lpstr>
      <vt:lpstr>Step 6: Bivariate Analysis – Sale Price vs Living Area Compared to lot area, living area shows a much stronger influence on house prices.</vt:lpstr>
      <vt:lpstr>Step 7: Bivariate Analysis – Sale Price vs Overall Quality 1. Sale price increases with improvement in overall quality  2. Higher quality houses have higher median prices 3. Quality plays a key role in house pricing </vt:lpstr>
      <vt:lpstr>Step 8: Outlier Observation 1. Some high-priced properties appear as outliers  2. These represent genuine luxury houses 3. Outliers were retained to reflect real market behavior</vt:lpstr>
      <vt:lpstr>Step 9: Correlation Analysis 1. Sale Price has strong correlation with OverallQual and GrLivArea 2. GarageCars and TotalBsmtSF show moderate positive correlation 3. LotArea has weaker influence on price </vt:lpstr>
      <vt:lpstr>Step 10: Amenities Analysis 1. Houses with more amenities tend to have higher prices 2. Garage capacity shows a positive impact on sale price 3. Amenities add value but are secondary to quality and size</vt:lpstr>
      <vt:lpstr>Challenges, Learnings &amp; Summary</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Harsimran Kaur</dc:creator>
  <cp:lastModifiedBy>Harsimran Kaur</cp:lastModifiedBy>
  <cp:revision>1</cp:revision>
  <dcterms:created xsi:type="dcterms:W3CDTF">2026-01-31T05:02:22Z</dcterms:created>
  <dcterms:modified xsi:type="dcterms:W3CDTF">2026-01-31T05:02:23Z</dcterms:modified>
</cp:coreProperties>
</file>